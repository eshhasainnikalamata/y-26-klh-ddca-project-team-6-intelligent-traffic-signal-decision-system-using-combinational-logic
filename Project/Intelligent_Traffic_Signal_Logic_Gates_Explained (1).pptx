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341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shhasainni@outlook.com" userId="ce826b4cbb803936" providerId="LiveId" clId="{4D75847D-3E80-4ADE-BE3D-C4019F06A769}"/>
    <pc:docChg chg="undo custSel modSld">
      <pc:chgData name="eshhasainni@outlook.com" userId="ce826b4cbb803936" providerId="LiveId" clId="{4D75847D-3E80-4ADE-BE3D-C4019F06A769}" dt="2026-09-09T05:08:13.319" v="54" actId="478"/>
      <pc:docMkLst>
        <pc:docMk/>
      </pc:docMkLst>
      <pc:sldChg chg="delSp modSp mod">
        <pc:chgData name="eshhasainni@outlook.com" userId="ce826b4cbb803936" providerId="LiveId" clId="{4D75847D-3E80-4ADE-BE3D-C4019F06A769}" dt="2026-09-09T05:07:09.161" v="41" actId="1076"/>
        <pc:sldMkLst>
          <pc:docMk/>
          <pc:sldMk cId="0" sldId="256"/>
        </pc:sldMkLst>
        <pc:spChg chg="mod">
          <ac:chgData name="eshhasainni@outlook.com" userId="ce826b4cbb803936" providerId="LiveId" clId="{4D75847D-3E80-4ADE-BE3D-C4019F06A769}" dt="2026-09-09T05:06:46.245" v="36" actId="1076"/>
          <ac:spMkLst>
            <pc:docMk/>
            <pc:sldMk cId="0" sldId="256"/>
            <ac:spMk id="14" creationId="{00000000-0000-0000-0000-000000000000}"/>
          </ac:spMkLst>
        </pc:spChg>
        <pc:spChg chg="mod">
          <ac:chgData name="eshhasainni@outlook.com" userId="ce826b4cbb803936" providerId="LiveId" clId="{4D75847D-3E80-4ADE-BE3D-C4019F06A769}" dt="2026-09-09T05:07:09.161" v="41" actId="1076"/>
          <ac:spMkLst>
            <pc:docMk/>
            <pc:sldMk cId="0" sldId="256"/>
            <ac:spMk id="15" creationId="{00000000-0000-0000-0000-000000000000}"/>
          </ac:spMkLst>
        </pc:spChg>
        <pc:spChg chg="mod">
          <ac:chgData name="eshhasainni@outlook.com" userId="ce826b4cbb803936" providerId="LiveId" clId="{4D75847D-3E80-4ADE-BE3D-C4019F06A769}" dt="2026-09-09T05:07:02.606" v="40" actId="1076"/>
          <ac:spMkLst>
            <pc:docMk/>
            <pc:sldMk cId="0" sldId="256"/>
            <ac:spMk id="16" creationId="{00000000-0000-0000-0000-000000000000}"/>
          </ac:spMkLst>
        </pc:spChg>
        <pc:spChg chg="mod">
          <ac:chgData name="eshhasainni@outlook.com" userId="ce826b4cbb803936" providerId="LiveId" clId="{4D75847D-3E80-4ADE-BE3D-C4019F06A769}" dt="2026-09-09T05:06:59.378" v="39" actId="1076"/>
          <ac:spMkLst>
            <pc:docMk/>
            <pc:sldMk cId="0" sldId="256"/>
            <ac:spMk id="17" creationId="{00000000-0000-0000-0000-000000000000}"/>
          </ac:spMkLst>
        </pc:spChg>
        <pc:spChg chg="del mod">
          <ac:chgData name="eshhasainni@outlook.com" userId="ce826b4cbb803936" providerId="LiveId" clId="{4D75847D-3E80-4ADE-BE3D-C4019F06A769}" dt="2026-09-09T04:54:39.504" v="16" actId="478"/>
          <ac:spMkLst>
            <pc:docMk/>
            <pc:sldMk cId="0" sldId="256"/>
            <ac:spMk id="18" creationId="{00000000-0000-0000-0000-000000000000}"/>
          </ac:spMkLst>
        </pc:spChg>
        <pc:spChg chg="del mod">
          <ac:chgData name="eshhasainni@outlook.com" userId="ce826b4cbb803936" providerId="LiveId" clId="{4D75847D-3E80-4ADE-BE3D-C4019F06A769}" dt="2026-09-09T04:54:05.451" v="4" actId="478"/>
          <ac:spMkLst>
            <pc:docMk/>
            <pc:sldMk cId="0" sldId="256"/>
            <ac:spMk id="19" creationId="{00000000-0000-0000-0000-000000000000}"/>
          </ac:spMkLst>
        </pc:spChg>
        <pc:spChg chg="del mod">
          <ac:chgData name="eshhasainni@outlook.com" userId="ce826b4cbb803936" providerId="LiveId" clId="{4D75847D-3E80-4ADE-BE3D-C4019F06A769}" dt="2026-09-09T04:54:37.185" v="15" actId="478"/>
          <ac:spMkLst>
            <pc:docMk/>
            <pc:sldMk cId="0" sldId="256"/>
            <ac:spMk id="20" creationId="{00000000-0000-0000-0000-000000000000}"/>
          </ac:spMkLst>
        </pc:spChg>
        <pc:spChg chg="del">
          <ac:chgData name="eshhasainni@outlook.com" userId="ce826b4cbb803936" providerId="LiveId" clId="{4D75847D-3E80-4ADE-BE3D-C4019F06A769}" dt="2026-09-09T04:54:17.590" v="8" actId="478"/>
          <ac:spMkLst>
            <pc:docMk/>
            <pc:sldMk cId="0" sldId="256"/>
            <ac:spMk id="21" creationId="{00000000-0000-0000-0000-000000000000}"/>
          </ac:spMkLst>
        </pc:spChg>
        <pc:spChg chg="del mod">
          <ac:chgData name="eshhasainni@outlook.com" userId="ce826b4cbb803936" providerId="LiveId" clId="{4D75847D-3E80-4ADE-BE3D-C4019F06A769}" dt="2026-09-09T04:54:35.355" v="14" actId="478"/>
          <ac:spMkLst>
            <pc:docMk/>
            <pc:sldMk cId="0" sldId="256"/>
            <ac:spMk id="22" creationId="{00000000-0000-0000-0000-000000000000}"/>
          </ac:spMkLst>
        </pc:spChg>
        <pc:spChg chg="del">
          <ac:chgData name="eshhasainni@outlook.com" userId="ce826b4cbb803936" providerId="LiveId" clId="{4D75847D-3E80-4ADE-BE3D-C4019F06A769}" dt="2026-09-09T04:54:12.231" v="6" actId="478"/>
          <ac:spMkLst>
            <pc:docMk/>
            <pc:sldMk cId="0" sldId="256"/>
            <ac:spMk id="23" creationId="{00000000-0000-0000-0000-000000000000}"/>
          </ac:spMkLst>
        </pc:spChg>
        <pc:spChg chg="mod">
          <ac:chgData name="eshhasainni@outlook.com" userId="ce826b4cbb803936" providerId="LiveId" clId="{4D75847D-3E80-4ADE-BE3D-C4019F06A769}" dt="2026-09-09T04:56:02.347" v="26" actId="1076"/>
          <ac:spMkLst>
            <pc:docMk/>
            <pc:sldMk cId="0" sldId="256"/>
            <ac:spMk id="26" creationId="{00000000-0000-0000-0000-000000000000}"/>
          </ac:spMkLst>
        </pc:spChg>
        <pc:spChg chg="mod">
          <ac:chgData name="eshhasainni@outlook.com" userId="ce826b4cbb803936" providerId="LiveId" clId="{4D75847D-3E80-4ADE-BE3D-C4019F06A769}" dt="2026-09-09T04:56:13.966" v="27" actId="1076"/>
          <ac:spMkLst>
            <pc:docMk/>
            <pc:sldMk cId="0" sldId="256"/>
            <ac:spMk id="27" creationId="{00000000-0000-0000-0000-000000000000}"/>
          </ac:spMkLst>
        </pc:spChg>
        <pc:spChg chg="mod">
          <ac:chgData name="eshhasainni@outlook.com" userId="ce826b4cbb803936" providerId="LiveId" clId="{4D75847D-3E80-4ADE-BE3D-C4019F06A769}" dt="2026-09-09T04:56:18.168" v="28" actId="1076"/>
          <ac:spMkLst>
            <pc:docMk/>
            <pc:sldMk cId="0" sldId="256"/>
            <ac:spMk id="28" creationId="{00000000-0000-0000-0000-000000000000}"/>
          </ac:spMkLst>
        </pc:spChg>
        <pc:spChg chg="mod">
          <ac:chgData name="eshhasainni@outlook.com" userId="ce826b4cbb803936" providerId="LiveId" clId="{4D75847D-3E80-4ADE-BE3D-C4019F06A769}" dt="2026-09-09T04:55:43.722" v="23" actId="1076"/>
          <ac:spMkLst>
            <pc:docMk/>
            <pc:sldMk cId="0" sldId="256"/>
            <ac:spMk id="29" creationId="{00000000-0000-0000-0000-000000000000}"/>
          </ac:spMkLst>
        </pc:spChg>
        <pc:spChg chg="mod">
          <ac:chgData name="eshhasainni@outlook.com" userId="ce826b4cbb803936" providerId="LiveId" clId="{4D75847D-3E80-4ADE-BE3D-C4019F06A769}" dt="2026-09-09T04:55:52.927" v="24" actId="1076"/>
          <ac:spMkLst>
            <pc:docMk/>
            <pc:sldMk cId="0" sldId="256"/>
            <ac:spMk id="30" creationId="{00000000-0000-0000-0000-000000000000}"/>
          </ac:spMkLst>
        </pc:spChg>
        <pc:spChg chg="mod">
          <ac:chgData name="eshhasainni@outlook.com" userId="ce826b4cbb803936" providerId="LiveId" clId="{4D75847D-3E80-4ADE-BE3D-C4019F06A769}" dt="2026-09-09T04:56:23.013" v="29" actId="1076"/>
          <ac:spMkLst>
            <pc:docMk/>
            <pc:sldMk cId="0" sldId="256"/>
            <ac:spMk id="31" creationId="{00000000-0000-0000-0000-000000000000}"/>
          </ac:spMkLst>
        </pc:spChg>
        <pc:spChg chg="mod">
          <ac:chgData name="eshhasainni@outlook.com" userId="ce826b4cbb803936" providerId="LiveId" clId="{4D75847D-3E80-4ADE-BE3D-C4019F06A769}" dt="2026-09-09T04:57:01.215" v="34" actId="1076"/>
          <ac:spMkLst>
            <pc:docMk/>
            <pc:sldMk cId="0" sldId="256"/>
            <ac:spMk id="32" creationId="{00000000-0000-0000-0000-000000000000}"/>
          </ac:spMkLst>
        </pc:spChg>
        <pc:spChg chg="mod">
          <ac:chgData name="eshhasainni@outlook.com" userId="ce826b4cbb803936" providerId="LiveId" clId="{4D75847D-3E80-4ADE-BE3D-C4019F06A769}" dt="2026-09-09T04:57:09.428" v="35" actId="1076"/>
          <ac:spMkLst>
            <pc:docMk/>
            <pc:sldMk cId="0" sldId="256"/>
            <ac:spMk id="33" creationId="{00000000-0000-0000-0000-000000000000}"/>
          </ac:spMkLst>
        </pc:spChg>
      </pc:sldChg>
      <pc:sldChg chg="delSp modSp mod">
        <pc:chgData name="eshhasainni@outlook.com" userId="ce826b4cbb803936" providerId="LiveId" clId="{4D75847D-3E80-4ADE-BE3D-C4019F06A769}" dt="2026-09-09T05:08:13.319" v="54" actId="478"/>
        <pc:sldMkLst>
          <pc:docMk/>
          <pc:sldMk cId="0" sldId="257"/>
        </pc:sldMkLst>
        <pc:spChg chg="del mod">
          <ac:chgData name="eshhasainni@outlook.com" userId="ce826b4cbb803936" providerId="LiveId" clId="{4D75847D-3E80-4ADE-BE3D-C4019F06A769}" dt="2026-09-09T05:08:13.319" v="54" actId="478"/>
          <ac:spMkLst>
            <pc:docMk/>
            <pc:sldMk cId="0" sldId="257"/>
            <ac:spMk id="14" creationId="{00000000-0000-0000-0000-000000000000}"/>
          </ac:spMkLst>
        </pc:spChg>
        <pc:spChg chg="del">
          <ac:chgData name="eshhasainni@outlook.com" userId="ce826b4cbb803936" providerId="LiveId" clId="{4D75847D-3E80-4ADE-BE3D-C4019F06A769}" dt="2026-09-09T05:08:00.004" v="50" actId="478"/>
          <ac:spMkLst>
            <pc:docMk/>
            <pc:sldMk cId="0" sldId="257"/>
            <ac:spMk id="15" creationId="{00000000-0000-0000-0000-000000000000}"/>
          </ac:spMkLst>
        </pc:spChg>
        <pc:spChg chg="mod">
          <ac:chgData name="eshhasainni@outlook.com" userId="ce826b4cbb803936" providerId="LiveId" clId="{4D75847D-3E80-4ADE-BE3D-C4019F06A769}" dt="2026-09-09T05:08:08.315" v="53" actId="1076"/>
          <ac:spMkLst>
            <pc:docMk/>
            <pc:sldMk cId="0" sldId="257"/>
            <ac:spMk id="18" creationId="{00000000-0000-0000-0000-000000000000}"/>
          </ac:spMkLst>
        </pc:spChg>
        <pc:spChg chg="mod">
          <ac:chgData name="eshhasainni@outlook.com" userId="ce826b4cbb803936" providerId="LiveId" clId="{4D75847D-3E80-4ADE-BE3D-C4019F06A769}" dt="2026-09-09T05:07:32.089" v="43" actId="1076"/>
          <ac:spMkLst>
            <pc:docMk/>
            <pc:sldMk cId="0" sldId="257"/>
            <ac:spMk id="29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192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881360" y="182880"/>
            <a:ext cx="502920" cy="502920"/>
          </a:xfrm>
          <a:prstGeom prst="ellipse">
            <a:avLst/>
          </a:prstGeom>
          <a:solidFill>
            <a:srgbClr val="46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84280" y="182880"/>
            <a:ext cx="347472" cy="347472"/>
          </a:xfrm>
          <a:prstGeom prst="ellipse">
            <a:avLst/>
          </a:prstGeom>
          <a:solidFill>
            <a:srgbClr val="F59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658600" y="182880"/>
            <a:ext cx="201168" cy="201168"/>
          </a:xfrm>
          <a:prstGeom prst="ellipse">
            <a:avLst/>
          </a:prstGeom>
          <a:solidFill>
            <a:srgbClr val="2DB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4592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Intelligent Traffic Signal</a:t>
            </a:r>
            <a:br/>
            <a:r>
              <a:t>Decision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6675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32A3C"/>
                </a:solidFill>
                <a:latin typeface="Aptos"/>
              </a:defRPr>
            </a:pPr>
            <a:r>
              <a:t>A smart traffic signal system using sensors and logic gates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1417320"/>
            <a:ext cx="3017520" cy="4297680"/>
          </a:xfrm>
          <a:prstGeom prst="rect">
            <a:avLst/>
          </a:prstGeom>
          <a:solidFill>
            <a:srgbClr val="37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189720" y="1828800"/>
            <a:ext cx="164592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189720" y="2560320"/>
            <a:ext cx="164592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189720" y="3291840"/>
            <a:ext cx="164592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89720" y="4023360"/>
            <a:ext cx="164592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189720" y="4754880"/>
            <a:ext cx="164592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709660" y="2263140"/>
            <a:ext cx="1143000" cy="2468880"/>
          </a:xfrm>
          <a:prstGeom prst="roundRect">
            <a:avLst/>
          </a:prstGeom>
          <a:solidFill>
            <a:srgbClr val="192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983980" y="2408060"/>
            <a:ext cx="594360" cy="594360"/>
          </a:xfrm>
          <a:prstGeom prst="ellipse">
            <a:avLst/>
          </a:prstGeom>
          <a:solidFill>
            <a:srgbClr val="E14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983980" y="3131610"/>
            <a:ext cx="594360" cy="594360"/>
          </a:xfrm>
          <a:prstGeom prst="ellipse">
            <a:avLst/>
          </a:prstGeom>
          <a:solidFill>
            <a:srgbClr val="F5C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974836" y="3931920"/>
            <a:ext cx="594360" cy="594360"/>
          </a:xfrm>
          <a:prstGeom prst="ellipse">
            <a:avLst/>
          </a:prstGeom>
          <a:solidFill>
            <a:srgbClr val="2DB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61722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97387"/>
                </a:solidFill>
              </a:defRPr>
            </a:pPr>
            <a:r>
              <a:t>Intelligent Traffic Signal Decision System  • 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160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82650"/>
                </a:solidFill>
                <a:latin typeface="Aptos"/>
              </a:defRPr>
            </a:pPr>
            <a:r>
              <a:t>Traffic sensors + logic gates + signal lights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8881" y="2491530"/>
            <a:ext cx="1417320" cy="640080"/>
          </a:xfrm>
          <a:prstGeom prst="roundRect">
            <a:avLst/>
          </a:prstGeom>
          <a:solidFill>
            <a:srgbClr val="3C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7" name="TextBox 26"/>
          <p:cNvSpPr txBox="1"/>
          <p:nvPr/>
        </p:nvSpPr>
        <p:spPr>
          <a:xfrm>
            <a:off x="1013600" y="2674620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rPr dirty="0"/>
              <a:t>SENSOR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2499353" y="2720340"/>
            <a:ext cx="320040" cy="228600"/>
          </a:xfrm>
          <a:prstGeom prst="rightArrow">
            <a:avLst/>
          </a:prstGeom>
          <a:solidFill>
            <a:srgbClr val="6E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2883401" y="2531797"/>
            <a:ext cx="1417320" cy="640080"/>
          </a:xfrm>
          <a:prstGeom prst="roundRect">
            <a:avLst/>
          </a:prstGeom>
          <a:solidFill>
            <a:srgbClr val="7D4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888120" y="2720340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rPr dirty="0"/>
              <a:t>LOGIC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4392853" y="2714257"/>
            <a:ext cx="320040" cy="228600"/>
          </a:xfrm>
          <a:prstGeom prst="rightArrow">
            <a:avLst/>
          </a:prstGeom>
          <a:solidFill>
            <a:srgbClr val="6E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4815763" y="2560320"/>
            <a:ext cx="1417320" cy="640080"/>
          </a:xfrm>
          <a:prstGeom prst="roundRect">
            <a:avLst/>
          </a:prstGeom>
          <a:solidFill>
            <a:srgbClr val="2DB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3" name="TextBox 32"/>
          <p:cNvSpPr txBox="1"/>
          <p:nvPr/>
        </p:nvSpPr>
        <p:spPr>
          <a:xfrm>
            <a:off x="4800306" y="2720340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rPr dirty="0"/>
              <a:t>LIGHT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92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881360" y="182880"/>
            <a:ext cx="502920" cy="502920"/>
          </a:xfrm>
          <a:prstGeom prst="ellipse">
            <a:avLst/>
          </a:prstGeom>
          <a:solidFill>
            <a:srgbClr val="46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84280" y="182880"/>
            <a:ext cx="347472" cy="347472"/>
          </a:xfrm>
          <a:prstGeom prst="ellipse">
            <a:avLst/>
          </a:prstGeom>
          <a:solidFill>
            <a:srgbClr val="F59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658600" y="182880"/>
            <a:ext cx="201168" cy="201168"/>
          </a:xfrm>
          <a:prstGeom prst="ellipse">
            <a:avLst/>
          </a:prstGeom>
          <a:solidFill>
            <a:srgbClr val="2DB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4592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How the System Works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64922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5943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32A3C"/>
                </a:solidFill>
                <a:latin typeface="Aptos"/>
              </a:defRPr>
            </a:pPr>
            <a:r>
              <a:t>• Sensors check how many vehicles are on each road.</a:t>
            </a:r>
          </a:p>
          <a:p>
            <a:pPr>
              <a:spcAft>
                <a:spcPts val="1400"/>
              </a:spcAft>
              <a:defRPr sz="1900">
                <a:solidFill>
                  <a:srgbClr val="232A3C"/>
                </a:solidFill>
                <a:latin typeface="Aptos"/>
              </a:defRPr>
            </a:pPr>
            <a:r>
              <a:t>• Special sensors detect ambulances and fire engines.</a:t>
            </a:r>
          </a:p>
          <a:p>
            <a:pPr>
              <a:spcAft>
                <a:spcPts val="1400"/>
              </a:spcAft>
              <a:defRPr sz="1900">
                <a:solidFill>
                  <a:srgbClr val="232A3C"/>
                </a:solidFill>
                <a:latin typeface="Aptos"/>
              </a:defRPr>
            </a:pPr>
            <a:r>
              <a:t>• Logic gates choose which road gets the green light.</a:t>
            </a:r>
          </a:p>
          <a:p>
            <a:pPr>
              <a:spcAft>
                <a:spcPts val="1400"/>
              </a:spcAft>
              <a:defRPr sz="1900">
                <a:solidFill>
                  <a:srgbClr val="232A3C"/>
                </a:solidFill>
                <a:latin typeface="Aptos"/>
              </a:defRPr>
            </a:pPr>
            <a:r>
              <a:t>• The decision is made very quickly.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325880"/>
            <a:ext cx="3977639" cy="4480560"/>
          </a:xfrm>
          <a:prstGeom prst="round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0" y="2331720"/>
            <a:ext cx="2560320" cy="1371600"/>
          </a:xfrm>
          <a:prstGeom prst="rect">
            <a:avLst/>
          </a:prstGeom>
          <a:solidFill>
            <a:srgbClr val="3C4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595360" y="2788920"/>
            <a:ext cx="320040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418320" y="2788920"/>
            <a:ext cx="320040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241280" y="2788920"/>
            <a:ext cx="320040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61722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97387"/>
                </a:solidFill>
              </a:defRPr>
            </a:pPr>
            <a:r>
              <a:t>Intelligent Traffic Signal Decision System  • 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1417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82650"/>
                </a:solidFill>
                <a:latin typeface="Aptos"/>
              </a:defRPr>
            </a:pPr>
            <a:r>
              <a:t>Simple visual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24798" y="2043684"/>
            <a:ext cx="1143000" cy="594360"/>
          </a:xfrm>
          <a:prstGeom prst="roundRect">
            <a:avLst/>
          </a:prstGeom>
          <a:solidFill>
            <a:srgbClr val="2D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09560" y="2157984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AND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62088" y="2148840"/>
            <a:ext cx="347472" cy="36576"/>
          </a:xfrm>
          <a:prstGeom prst="rect">
            <a:avLst/>
          </a:prstGeom>
          <a:solidFill>
            <a:srgbClr val="6E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562088" y="2450592"/>
            <a:ext cx="347472" cy="36576"/>
          </a:xfrm>
          <a:prstGeom prst="rect">
            <a:avLst/>
          </a:prstGeom>
          <a:solidFill>
            <a:srgbClr val="6E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52560" y="2304288"/>
            <a:ext cx="347472" cy="36576"/>
          </a:xfrm>
          <a:prstGeom prst="rect">
            <a:avLst/>
          </a:prstGeom>
          <a:solidFill>
            <a:srgbClr val="6E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829800" y="2011680"/>
            <a:ext cx="1143000" cy="594360"/>
          </a:xfrm>
          <a:prstGeom prst="roundRect">
            <a:avLst/>
          </a:prstGeom>
          <a:solidFill>
            <a:srgbClr val="7D4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829800" y="2157984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82328" y="2148840"/>
            <a:ext cx="347472" cy="36576"/>
          </a:xfrm>
          <a:prstGeom prst="rect">
            <a:avLst/>
          </a:prstGeom>
          <a:solidFill>
            <a:srgbClr val="6E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482328" y="2450592"/>
            <a:ext cx="347472" cy="36576"/>
          </a:xfrm>
          <a:prstGeom prst="rect">
            <a:avLst/>
          </a:prstGeom>
          <a:solidFill>
            <a:srgbClr val="6E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0972800" y="2304288"/>
            <a:ext cx="347472" cy="36576"/>
          </a:xfrm>
          <a:prstGeom prst="rect">
            <a:avLst/>
          </a:prstGeom>
          <a:solidFill>
            <a:srgbClr val="6E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909560" y="3063240"/>
            <a:ext cx="1143000" cy="594360"/>
          </a:xfrm>
          <a:prstGeom prst="roundRect">
            <a:avLst/>
          </a:prstGeom>
          <a:solidFill>
            <a:srgbClr val="F59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909560" y="3209544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NOT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62088" y="3200400"/>
            <a:ext cx="347472" cy="36576"/>
          </a:xfrm>
          <a:prstGeom prst="rect">
            <a:avLst/>
          </a:prstGeom>
          <a:solidFill>
            <a:srgbClr val="6E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562088" y="3502152"/>
            <a:ext cx="347472" cy="36576"/>
          </a:xfrm>
          <a:prstGeom prst="rect">
            <a:avLst/>
          </a:prstGeom>
          <a:solidFill>
            <a:srgbClr val="6E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052560" y="3355848"/>
            <a:ext cx="347472" cy="36576"/>
          </a:xfrm>
          <a:prstGeom prst="rect">
            <a:avLst/>
          </a:prstGeom>
          <a:solidFill>
            <a:srgbClr val="6E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9829800" y="3063240"/>
            <a:ext cx="1143000" cy="594360"/>
          </a:xfrm>
          <a:prstGeom prst="roundRect">
            <a:avLst/>
          </a:prstGeom>
          <a:solidFill>
            <a:srgbClr val="3C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829800" y="3209544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AND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82328" y="3200400"/>
            <a:ext cx="347472" cy="36576"/>
          </a:xfrm>
          <a:prstGeom prst="rect">
            <a:avLst/>
          </a:prstGeom>
          <a:solidFill>
            <a:srgbClr val="6E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482328" y="3502152"/>
            <a:ext cx="347472" cy="36576"/>
          </a:xfrm>
          <a:prstGeom prst="rect">
            <a:avLst/>
          </a:prstGeom>
          <a:solidFill>
            <a:srgbClr val="6E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0972800" y="3355848"/>
            <a:ext cx="347472" cy="36576"/>
          </a:xfrm>
          <a:prstGeom prst="rect">
            <a:avLst/>
          </a:prstGeom>
          <a:solidFill>
            <a:srgbClr val="6E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635240" y="4069080"/>
            <a:ext cx="37490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32A3C"/>
                </a:solidFill>
                <a:latin typeface="Aptos"/>
              </a:defRPr>
            </a:pPr>
            <a:r>
              <a:t>AND: both inputs must be ON</a:t>
            </a:r>
            <a:br/>
            <a:r>
              <a:t>OR: one or both inputs can be ON</a:t>
            </a:r>
            <a:br/>
            <a:r>
              <a:t>NOT: changes ON to OFF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35240" y="507492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DB46E"/>
                </a:solidFill>
                <a:latin typeface="Aptos"/>
              </a:defRPr>
            </a:pPr>
            <a:r>
              <a:t>Sensors → Gates → Traffic lights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92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881360" y="182880"/>
            <a:ext cx="502920" cy="502920"/>
          </a:xfrm>
          <a:prstGeom prst="ellipse">
            <a:avLst/>
          </a:prstGeom>
          <a:solidFill>
            <a:srgbClr val="46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84280" y="182880"/>
            <a:ext cx="347472" cy="347472"/>
          </a:xfrm>
          <a:prstGeom prst="ellipse">
            <a:avLst/>
          </a:prstGeom>
          <a:solidFill>
            <a:srgbClr val="F59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658600" y="182880"/>
            <a:ext cx="201168" cy="201168"/>
          </a:xfrm>
          <a:prstGeom prst="ellipse">
            <a:avLst/>
          </a:prstGeom>
          <a:solidFill>
            <a:srgbClr val="2DB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4592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Sensors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64922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5943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32A3C"/>
                </a:solidFill>
                <a:latin typeface="Aptos"/>
              </a:defRPr>
            </a:pPr>
            <a:r>
              <a:t>• IR and ultrasonic sensors check traffic.</a:t>
            </a:r>
          </a:p>
          <a:p>
            <a:pPr>
              <a:spcAft>
                <a:spcPts val="1400"/>
              </a:spcAft>
              <a:defRPr sz="1900">
                <a:solidFill>
                  <a:srgbClr val="232A3C"/>
                </a:solidFill>
                <a:latin typeface="Aptos"/>
              </a:defRPr>
            </a:pPr>
            <a:r>
              <a:t>• They measure traffic on North–South and East–West roads.</a:t>
            </a:r>
          </a:p>
          <a:p>
            <a:pPr>
              <a:spcAft>
                <a:spcPts val="1400"/>
              </a:spcAft>
              <a:defRPr sz="1900">
                <a:solidFill>
                  <a:srgbClr val="232A3C"/>
                </a:solidFill>
                <a:latin typeface="Aptos"/>
              </a:defRPr>
            </a:pPr>
            <a:r>
              <a:t>• Emergency sensors give priority to ambulances and fire engines.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325880"/>
            <a:ext cx="3977639" cy="4480560"/>
          </a:xfrm>
          <a:prstGeom prst="round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0" y="2331720"/>
            <a:ext cx="2560320" cy="1371600"/>
          </a:xfrm>
          <a:prstGeom prst="rect">
            <a:avLst/>
          </a:prstGeom>
          <a:solidFill>
            <a:srgbClr val="3C4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595360" y="2788920"/>
            <a:ext cx="320040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418320" y="2788920"/>
            <a:ext cx="320040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241280" y="2788920"/>
            <a:ext cx="320040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863840" y="1965960"/>
            <a:ext cx="502920" cy="502920"/>
          </a:xfrm>
          <a:prstGeom prst="ellipse">
            <a:avLst/>
          </a:prstGeom>
          <a:solidFill>
            <a:srgbClr val="46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789920" y="1965960"/>
            <a:ext cx="502920" cy="502920"/>
          </a:xfrm>
          <a:prstGeom prst="ellipse">
            <a:avLst/>
          </a:prstGeom>
          <a:solidFill>
            <a:srgbClr val="F59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61722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97387"/>
                </a:solidFill>
              </a:defRPr>
            </a:pPr>
            <a:r>
              <a:t>Intelligent Traffic Signal Decision System  • 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1417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82650"/>
                </a:solidFill>
                <a:latin typeface="Aptos"/>
              </a:defRPr>
            </a:pPr>
            <a:r>
              <a:t>Simple visual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2011680"/>
            <a:ext cx="1143000" cy="594360"/>
          </a:xfrm>
          <a:prstGeom prst="roundRect">
            <a:avLst/>
          </a:prstGeom>
          <a:solidFill>
            <a:srgbClr val="2D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09560" y="2157984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AND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62088" y="2148840"/>
            <a:ext cx="347472" cy="36576"/>
          </a:xfrm>
          <a:prstGeom prst="rect">
            <a:avLst/>
          </a:prstGeom>
          <a:solidFill>
            <a:srgbClr val="6E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562088" y="2450592"/>
            <a:ext cx="347472" cy="36576"/>
          </a:xfrm>
          <a:prstGeom prst="rect">
            <a:avLst/>
          </a:prstGeom>
          <a:solidFill>
            <a:srgbClr val="6E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52560" y="2304288"/>
            <a:ext cx="347472" cy="36576"/>
          </a:xfrm>
          <a:prstGeom prst="rect">
            <a:avLst/>
          </a:prstGeom>
          <a:solidFill>
            <a:srgbClr val="6E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829800" y="2011680"/>
            <a:ext cx="1143000" cy="594360"/>
          </a:xfrm>
          <a:prstGeom prst="roundRect">
            <a:avLst/>
          </a:prstGeom>
          <a:solidFill>
            <a:srgbClr val="7D4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829800" y="2157984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82328" y="2148840"/>
            <a:ext cx="347472" cy="36576"/>
          </a:xfrm>
          <a:prstGeom prst="rect">
            <a:avLst/>
          </a:prstGeom>
          <a:solidFill>
            <a:srgbClr val="6E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482328" y="2450592"/>
            <a:ext cx="347472" cy="36576"/>
          </a:xfrm>
          <a:prstGeom prst="rect">
            <a:avLst/>
          </a:prstGeom>
          <a:solidFill>
            <a:srgbClr val="6E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0972800" y="2304288"/>
            <a:ext cx="347472" cy="36576"/>
          </a:xfrm>
          <a:prstGeom prst="rect">
            <a:avLst/>
          </a:prstGeom>
          <a:solidFill>
            <a:srgbClr val="6E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909560" y="3063240"/>
            <a:ext cx="1143000" cy="594360"/>
          </a:xfrm>
          <a:prstGeom prst="roundRect">
            <a:avLst/>
          </a:prstGeom>
          <a:solidFill>
            <a:srgbClr val="F59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909560" y="3209544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NOT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62088" y="3200400"/>
            <a:ext cx="347472" cy="36576"/>
          </a:xfrm>
          <a:prstGeom prst="rect">
            <a:avLst/>
          </a:prstGeom>
          <a:solidFill>
            <a:srgbClr val="6E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562088" y="3502152"/>
            <a:ext cx="347472" cy="36576"/>
          </a:xfrm>
          <a:prstGeom prst="rect">
            <a:avLst/>
          </a:prstGeom>
          <a:solidFill>
            <a:srgbClr val="6E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052560" y="3355848"/>
            <a:ext cx="347472" cy="36576"/>
          </a:xfrm>
          <a:prstGeom prst="rect">
            <a:avLst/>
          </a:prstGeom>
          <a:solidFill>
            <a:srgbClr val="6E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9829800" y="3063240"/>
            <a:ext cx="1143000" cy="594360"/>
          </a:xfrm>
          <a:prstGeom prst="roundRect">
            <a:avLst/>
          </a:prstGeom>
          <a:solidFill>
            <a:srgbClr val="3C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829800" y="3209544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AND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82328" y="3200400"/>
            <a:ext cx="347472" cy="36576"/>
          </a:xfrm>
          <a:prstGeom prst="rect">
            <a:avLst/>
          </a:prstGeom>
          <a:solidFill>
            <a:srgbClr val="6E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482328" y="3502152"/>
            <a:ext cx="347472" cy="36576"/>
          </a:xfrm>
          <a:prstGeom prst="rect">
            <a:avLst/>
          </a:prstGeom>
          <a:solidFill>
            <a:srgbClr val="6E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0972800" y="3355848"/>
            <a:ext cx="347472" cy="36576"/>
          </a:xfrm>
          <a:prstGeom prst="rect">
            <a:avLst/>
          </a:prstGeom>
          <a:solidFill>
            <a:srgbClr val="6E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635240" y="4069080"/>
            <a:ext cx="37490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32A3C"/>
                </a:solidFill>
                <a:latin typeface="Aptos"/>
              </a:defRPr>
            </a:pPr>
            <a:r>
              <a:t>AND: both inputs must be ON</a:t>
            </a:r>
            <a:br/>
            <a:r>
              <a:t>OR: one or both inputs can be ON</a:t>
            </a:r>
            <a:br/>
            <a:r>
              <a:t>NOT: changes ON to OFF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92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881360" y="182880"/>
            <a:ext cx="502920" cy="502920"/>
          </a:xfrm>
          <a:prstGeom prst="ellipse">
            <a:avLst/>
          </a:prstGeom>
          <a:solidFill>
            <a:srgbClr val="46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84280" y="182880"/>
            <a:ext cx="347472" cy="347472"/>
          </a:xfrm>
          <a:prstGeom prst="ellipse">
            <a:avLst/>
          </a:prstGeom>
          <a:solidFill>
            <a:srgbClr val="F59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658600" y="182880"/>
            <a:ext cx="201168" cy="201168"/>
          </a:xfrm>
          <a:prstGeom prst="ellipse">
            <a:avLst/>
          </a:prstGeom>
          <a:solidFill>
            <a:srgbClr val="2DB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4592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Decision Logic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64922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5943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32A3C"/>
                </a:solidFill>
                <a:latin typeface="Aptos"/>
              </a:defRPr>
            </a:pPr>
            <a:r>
              <a:t>• The system uses logic gates to make decisions.</a:t>
            </a:r>
          </a:p>
          <a:p>
            <a:pPr>
              <a:spcAft>
                <a:spcPts val="1400"/>
              </a:spcAft>
              <a:defRPr sz="1900">
                <a:solidFill>
                  <a:srgbClr val="232A3C"/>
                </a:solidFill>
                <a:latin typeface="Aptos"/>
              </a:defRPr>
            </a:pPr>
            <a:r>
              <a:t>• It uses simple ON/OFF signals.</a:t>
            </a:r>
          </a:p>
          <a:p>
            <a:pPr>
              <a:spcAft>
                <a:spcPts val="1400"/>
              </a:spcAft>
              <a:defRPr sz="1900">
                <a:solidFill>
                  <a:srgbClr val="232A3C"/>
                </a:solidFill>
                <a:latin typeface="Aptos"/>
              </a:defRPr>
            </a:pPr>
            <a:r>
              <a:t>• The signals control Red, Yellow and Green lights.</a:t>
            </a:r>
          </a:p>
          <a:p>
            <a:pPr>
              <a:spcAft>
                <a:spcPts val="1400"/>
              </a:spcAft>
              <a:defRPr sz="1900">
                <a:solidFill>
                  <a:srgbClr val="232A3C"/>
                </a:solidFill>
                <a:latin typeface="Aptos"/>
              </a:defRPr>
            </a:pPr>
            <a:r>
              <a:t>• The rules follow a fixed priority table.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325880"/>
            <a:ext cx="3977639" cy="4480560"/>
          </a:xfrm>
          <a:prstGeom prst="round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046720" y="1828800"/>
            <a:ext cx="1234440" cy="594360"/>
          </a:xfrm>
          <a:prstGeom prst="roundRect">
            <a:avLst/>
          </a:prstGeom>
          <a:solidFill>
            <a:srgbClr val="2D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0" y="1956816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743200"/>
            <a:ext cx="1234440" cy="594360"/>
          </a:xfrm>
          <a:prstGeom prst="roundRect">
            <a:avLst/>
          </a:prstGeom>
          <a:solidFill>
            <a:srgbClr val="7D4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0" y="2871216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657600"/>
            <a:ext cx="1234440" cy="594360"/>
          </a:xfrm>
          <a:prstGeom prst="roundRect">
            <a:avLst/>
          </a:prstGeom>
          <a:solidFill>
            <a:srgbClr val="F59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20" y="3785616"/>
            <a:ext cx="1234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NOT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601200" y="2331720"/>
            <a:ext cx="1280160" cy="457200"/>
          </a:xfrm>
          <a:prstGeom prst="rightArrow">
            <a:avLst/>
          </a:prstGeom>
          <a:solidFill>
            <a:srgbClr val="2DB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149840" y="3063240"/>
            <a:ext cx="457200" cy="457200"/>
          </a:xfrm>
          <a:prstGeom prst="ellipse">
            <a:avLst/>
          </a:prstGeom>
          <a:solidFill>
            <a:srgbClr val="E14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149840" y="3657600"/>
            <a:ext cx="457200" cy="457200"/>
          </a:xfrm>
          <a:prstGeom prst="ellipse">
            <a:avLst/>
          </a:prstGeom>
          <a:solidFill>
            <a:srgbClr val="F5C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149840" y="4251960"/>
            <a:ext cx="457200" cy="457200"/>
          </a:xfrm>
          <a:prstGeom prst="ellipse">
            <a:avLst/>
          </a:prstGeom>
          <a:solidFill>
            <a:srgbClr val="2DB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61722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97387"/>
                </a:solidFill>
              </a:defRPr>
            </a:pPr>
            <a:r>
              <a:t>Intelligent Traffic Signal Decision System  • 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1417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82650"/>
                </a:solidFill>
                <a:latin typeface="Aptos"/>
              </a:defRPr>
            </a:pPr>
            <a:r>
              <a:t>Simple visual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9560" y="2011680"/>
            <a:ext cx="1143000" cy="594360"/>
          </a:xfrm>
          <a:prstGeom prst="roundRect">
            <a:avLst/>
          </a:prstGeom>
          <a:solidFill>
            <a:srgbClr val="2D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909560" y="2157984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AND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62088" y="2148840"/>
            <a:ext cx="347472" cy="36576"/>
          </a:xfrm>
          <a:prstGeom prst="rect">
            <a:avLst/>
          </a:prstGeom>
          <a:solidFill>
            <a:srgbClr val="6E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562088" y="2450592"/>
            <a:ext cx="347472" cy="36576"/>
          </a:xfrm>
          <a:prstGeom prst="rect">
            <a:avLst/>
          </a:prstGeom>
          <a:solidFill>
            <a:srgbClr val="6E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052560" y="2304288"/>
            <a:ext cx="347472" cy="36576"/>
          </a:xfrm>
          <a:prstGeom prst="rect">
            <a:avLst/>
          </a:prstGeom>
          <a:solidFill>
            <a:srgbClr val="6E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829800" y="2011680"/>
            <a:ext cx="1143000" cy="594360"/>
          </a:xfrm>
          <a:prstGeom prst="roundRect">
            <a:avLst/>
          </a:prstGeom>
          <a:solidFill>
            <a:srgbClr val="7D4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829800" y="2157984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482328" y="2148840"/>
            <a:ext cx="347472" cy="36576"/>
          </a:xfrm>
          <a:prstGeom prst="rect">
            <a:avLst/>
          </a:prstGeom>
          <a:solidFill>
            <a:srgbClr val="6E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482328" y="2450592"/>
            <a:ext cx="347472" cy="36576"/>
          </a:xfrm>
          <a:prstGeom prst="rect">
            <a:avLst/>
          </a:prstGeom>
          <a:solidFill>
            <a:srgbClr val="6E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0972800" y="2304288"/>
            <a:ext cx="347472" cy="36576"/>
          </a:xfrm>
          <a:prstGeom prst="rect">
            <a:avLst/>
          </a:prstGeom>
          <a:solidFill>
            <a:srgbClr val="6E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7909560" y="3063240"/>
            <a:ext cx="1143000" cy="594360"/>
          </a:xfrm>
          <a:prstGeom prst="roundRect">
            <a:avLst/>
          </a:prstGeom>
          <a:solidFill>
            <a:srgbClr val="F59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909560" y="3209544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NOT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62088" y="3200400"/>
            <a:ext cx="347472" cy="36576"/>
          </a:xfrm>
          <a:prstGeom prst="rect">
            <a:avLst/>
          </a:prstGeom>
          <a:solidFill>
            <a:srgbClr val="6E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562088" y="3502152"/>
            <a:ext cx="347472" cy="36576"/>
          </a:xfrm>
          <a:prstGeom prst="rect">
            <a:avLst/>
          </a:prstGeom>
          <a:solidFill>
            <a:srgbClr val="6E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052560" y="3355848"/>
            <a:ext cx="347472" cy="36576"/>
          </a:xfrm>
          <a:prstGeom prst="rect">
            <a:avLst/>
          </a:prstGeom>
          <a:solidFill>
            <a:srgbClr val="6E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9829800" y="3063240"/>
            <a:ext cx="1143000" cy="594360"/>
          </a:xfrm>
          <a:prstGeom prst="roundRect">
            <a:avLst/>
          </a:prstGeom>
          <a:solidFill>
            <a:srgbClr val="3C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829800" y="3209544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AND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482328" y="3200400"/>
            <a:ext cx="347472" cy="36576"/>
          </a:xfrm>
          <a:prstGeom prst="rect">
            <a:avLst/>
          </a:prstGeom>
          <a:solidFill>
            <a:srgbClr val="6E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482328" y="3502152"/>
            <a:ext cx="347472" cy="36576"/>
          </a:xfrm>
          <a:prstGeom prst="rect">
            <a:avLst/>
          </a:prstGeom>
          <a:solidFill>
            <a:srgbClr val="6E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0972800" y="3355848"/>
            <a:ext cx="347472" cy="36576"/>
          </a:xfrm>
          <a:prstGeom prst="rect">
            <a:avLst/>
          </a:prstGeom>
          <a:solidFill>
            <a:srgbClr val="6E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635240" y="4069080"/>
            <a:ext cx="37490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32A3C"/>
                </a:solidFill>
                <a:latin typeface="Aptos"/>
              </a:defRPr>
            </a:pPr>
            <a:r>
              <a:t>AND: both inputs must be ON</a:t>
            </a:r>
            <a:br/>
            <a:r>
              <a:t>OR: one or both inputs can be ON</a:t>
            </a:r>
            <a:br/>
            <a:r>
              <a:t>NOT: changes ON to OFF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43800" y="5074920"/>
            <a:ext cx="3886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1464B"/>
                </a:solidFill>
                <a:latin typeface="Aptos"/>
              </a:defRPr>
            </a:pPr>
            <a:r>
              <a:t>Example: Emergency = 1 → Green = 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92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881360" y="182880"/>
            <a:ext cx="502920" cy="502920"/>
          </a:xfrm>
          <a:prstGeom prst="ellipse">
            <a:avLst/>
          </a:prstGeom>
          <a:solidFill>
            <a:srgbClr val="46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384280" y="182880"/>
            <a:ext cx="347472" cy="347472"/>
          </a:xfrm>
          <a:prstGeom prst="ellipse">
            <a:avLst/>
          </a:prstGeom>
          <a:solidFill>
            <a:srgbClr val="F59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658600" y="182880"/>
            <a:ext cx="201168" cy="201168"/>
          </a:xfrm>
          <a:prstGeom prst="ellipse">
            <a:avLst/>
          </a:prstGeom>
          <a:solidFill>
            <a:srgbClr val="2DB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64592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System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64922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5943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232A3C"/>
                </a:solidFill>
                <a:latin typeface="Aptos"/>
              </a:defRPr>
            </a:pPr>
            <a:r>
              <a:t>Traffic sensors → Logic gates → Traffic lights</a:t>
            </a:r>
          </a:p>
          <a:p>
            <a:pPr>
              <a:spcAft>
                <a:spcPts val="1400"/>
              </a:spcAft>
              <a:defRPr sz="2200">
                <a:solidFill>
                  <a:srgbClr val="232A3C"/>
                </a:solidFill>
                <a:latin typeface="Aptos"/>
              </a:defRPr>
            </a:pPr>
            <a:endParaRPr/>
          </a:p>
          <a:p>
            <a:pPr>
              <a:spcAft>
                <a:spcPts val="1400"/>
              </a:spcAft>
              <a:defRPr sz="2200">
                <a:solidFill>
                  <a:srgbClr val="232A3C"/>
                </a:solidFill>
                <a:latin typeface="Aptos"/>
              </a:defRPr>
            </a:pPr>
            <a:r>
              <a:t>Emergency vehicle detected → Emergency override → Green light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325880"/>
            <a:ext cx="3977639" cy="4480560"/>
          </a:xfrm>
          <a:prstGeom prst="round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818120" y="2331720"/>
            <a:ext cx="960120" cy="685800"/>
          </a:xfrm>
          <a:prstGeom prst="roundRect">
            <a:avLst/>
          </a:prstGeom>
          <a:solidFill>
            <a:srgbClr val="46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18120" y="2514600"/>
            <a:ext cx="960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Sensors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778240" y="2468880"/>
            <a:ext cx="228600" cy="320040"/>
          </a:xfrm>
          <a:prstGeom prst="rightArrow">
            <a:avLst/>
          </a:prstGeom>
          <a:solidFill>
            <a:srgbClr val="697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961120" y="2331720"/>
            <a:ext cx="960120" cy="685800"/>
          </a:xfrm>
          <a:prstGeom prst="roundRect">
            <a:avLst/>
          </a:prstGeom>
          <a:solidFill>
            <a:srgbClr val="7D4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0" y="2514600"/>
            <a:ext cx="960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Logic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921240" y="2468880"/>
            <a:ext cx="228600" cy="320040"/>
          </a:xfrm>
          <a:prstGeom prst="rightArrow">
            <a:avLst/>
          </a:prstGeom>
          <a:solidFill>
            <a:srgbClr val="697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104120" y="2331720"/>
            <a:ext cx="960120" cy="685800"/>
          </a:xfrm>
          <a:prstGeom prst="roundRect">
            <a:avLst/>
          </a:prstGeom>
          <a:solidFill>
            <a:srgbClr val="2DB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104120" y="2514600"/>
            <a:ext cx="960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Lights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66760" y="3657600"/>
            <a:ext cx="2194560" cy="685800"/>
          </a:xfrm>
          <a:prstGeom prst="roundRect">
            <a:avLst/>
          </a:prstGeom>
          <a:solidFill>
            <a:srgbClr val="E14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66760" y="384048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Emergency → Green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17220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97387"/>
                </a:solidFill>
              </a:defRPr>
            </a:pPr>
            <a:r>
              <a:t>Intelligent Traffic Signal Decision System  • 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1417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82650"/>
                </a:solidFill>
                <a:latin typeface="Aptos"/>
              </a:defRPr>
            </a:pPr>
            <a:r>
              <a:t>Simple visual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9560" y="2011680"/>
            <a:ext cx="1143000" cy="594360"/>
          </a:xfrm>
          <a:prstGeom prst="roundRect">
            <a:avLst/>
          </a:prstGeom>
          <a:solidFill>
            <a:srgbClr val="2D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909560" y="2157984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AND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62088" y="2148840"/>
            <a:ext cx="347472" cy="36576"/>
          </a:xfrm>
          <a:prstGeom prst="rect">
            <a:avLst/>
          </a:prstGeom>
          <a:solidFill>
            <a:srgbClr val="6E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562088" y="2450592"/>
            <a:ext cx="347472" cy="36576"/>
          </a:xfrm>
          <a:prstGeom prst="rect">
            <a:avLst/>
          </a:prstGeom>
          <a:solidFill>
            <a:srgbClr val="6E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052560" y="2304288"/>
            <a:ext cx="347472" cy="36576"/>
          </a:xfrm>
          <a:prstGeom prst="rect">
            <a:avLst/>
          </a:prstGeom>
          <a:solidFill>
            <a:srgbClr val="6E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829800" y="2011680"/>
            <a:ext cx="1143000" cy="594360"/>
          </a:xfrm>
          <a:prstGeom prst="roundRect">
            <a:avLst/>
          </a:prstGeom>
          <a:solidFill>
            <a:srgbClr val="7D4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829800" y="2157984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482328" y="2148840"/>
            <a:ext cx="347472" cy="36576"/>
          </a:xfrm>
          <a:prstGeom prst="rect">
            <a:avLst/>
          </a:prstGeom>
          <a:solidFill>
            <a:srgbClr val="6E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482328" y="2450592"/>
            <a:ext cx="347472" cy="36576"/>
          </a:xfrm>
          <a:prstGeom prst="rect">
            <a:avLst/>
          </a:prstGeom>
          <a:solidFill>
            <a:srgbClr val="6E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0972800" y="2304288"/>
            <a:ext cx="347472" cy="36576"/>
          </a:xfrm>
          <a:prstGeom prst="rect">
            <a:avLst/>
          </a:prstGeom>
          <a:solidFill>
            <a:srgbClr val="6E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7909560" y="3063240"/>
            <a:ext cx="1143000" cy="594360"/>
          </a:xfrm>
          <a:prstGeom prst="roundRect">
            <a:avLst/>
          </a:prstGeom>
          <a:solidFill>
            <a:srgbClr val="F59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909560" y="3209544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NOT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62088" y="3200400"/>
            <a:ext cx="347472" cy="36576"/>
          </a:xfrm>
          <a:prstGeom prst="rect">
            <a:avLst/>
          </a:prstGeom>
          <a:solidFill>
            <a:srgbClr val="6E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562088" y="3502152"/>
            <a:ext cx="347472" cy="36576"/>
          </a:xfrm>
          <a:prstGeom prst="rect">
            <a:avLst/>
          </a:prstGeom>
          <a:solidFill>
            <a:srgbClr val="6E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052560" y="3355848"/>
            <a:ext cx="347472" cy="36576"/>
          </a:xfrm>
          <a:prstGeom prst="rect">
            <a:avLst/>
          </a:prstGeom>
          <a:solidFill>
            <a:srgbClr val="6E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9829800" y="3063240"/>
            <a:ext cx="1143000" cy="594360"/>
          </a:xfrm>
          <a:prstGeom prst="roundRect">
            <a:avLst/>
          </a:prstGeom>
          <a:solidFill>
            <a:srgbClr val="3C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829800" y="3209544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AND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482328" y="3200400"/>
            <a:ext cx="347472" cy="36576"/>
          </a:xfrm>
          <a:prstGeom prst="rect">
            <a:avLst/>
          </a:prstGeom>
          <a:solidFill>
            <a:srgbClr val="6E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482328" y="3502152"/>
            <a:ext cx="347472" cy="36576"/>
          </a:xfrm>
          <a:prstGeom prst="rect">
            <a:avLst/>
          </a:prstGeom>
          <a:solidFill>
            <a:srgbClr val="6E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0972800" y="3355848"/>
            <a:ext cx="347472" cy="36576"/>
          </a:xfrm>
          <a:prstGeom prst="rect">
            <a:avLst/>
          </a:prstGeom>
          <a:solidFill>
            <a:srgbClr val="6E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635240" y="4069080"/>
            <a:ext cx="37490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32A3C"/>
                </a:solidFill>
                <a:latin typeface="Aptos"/>
              </a:defRPr>
            </a:pPr>
            <a:r>
              <a:t>AND: both inputs must be ON</a:t>
            </a:r>
            <a:br/>
            <a:r>
              <a:t>OR: one or both inputs can be ON</a:t>
            </a:r>
            <a:br/>
            <a:r>
              <a:t>NOT: changes ON to OFF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343</Words>
  <Application>Microsoft Office PowerPoint</Application>
  <PresentationFormat>Widescreen</PresentationFormat>
  <Paragraphs>62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eshhasainni@outlook.com</cp:lastModifiedBy>
  <cp:revision>3</cp:revision>
  <dcterms:created xsi:type="dcterms:W3CDTF">2013-01-27T09:14:16Z</dcterms:created>
  <dcterms:modified xsi:type="dcterms:W3CDTF">2026-09-19T09:31:46Z</dcterms:modified>
  <cp:category/>
</cp:coreProperties>
</file>